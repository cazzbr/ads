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1B5C7-C95F-71DA-A451-0EEB9D81E6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CDA6FB-403A-CCEB-F1B8-3DA0DFCEDD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C2AB9-6501-4A15-E86E-E0AD37041E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48821-894E-881E-7699-022967B09B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D04818-A527-D408-2A3F-94842DC0AC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091BB-5EDE-1D8C-E77A-AAE7DAC65A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16C1B-5B08-820A-DD0F-E65348B070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8E8D5-AC7E-7EDA-1B58-46A875D0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EF3C08-ECE9-0FAA-8687-EAE67D36E5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E18B-B439-7683-E2F2-8E0B7D1869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F44B61-D8C3-AB4F-5F5A-5DFDA98DC2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28FE8A-0598-C840-79D3-C5FA4106E0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51E72C-2FF7-EB87-F831-36EB49A22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90B8DB-9646-4C50-725D-67FFC28BE6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2D1EF-B317-E300-6D55-115E164E48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8498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065359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11342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450957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57138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877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18859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91510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690381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10534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90238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47878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2487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149558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727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9203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54567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6451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2166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277724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0249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5540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93664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31835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76181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71824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31697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73786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524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234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5526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892876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0793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7588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36178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5931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13859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937577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08480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60241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4523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97352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66319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124885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8873953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35747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11475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0131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6719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68205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74218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88467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1041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0964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1013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5101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84378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575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10192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41372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99754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68986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610207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446005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8238167" name="TextBox 2"/>
          <p:cNvSpPr txBox="1"/>
          <p:nvPr/>
        </p:nvSpPr>
        <p:spPr bwMode="auto"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400" b="1" i="0">
                <a:solidFill>
                  <a:srgbClr val="F5C518"/>
                </a:solidFill>
              </a:rPr>
              <a:t>Introdução à Programação</a:t>
            </a:r>
            <a:endParaRPr/>
          </a:p>
        </p:txBody>
      </p:sp>
      <p:sp>
        <p:nvSpPr>
          <p:cNvPr id="2082690879" name="TextBox 3"/>
          <p:cNvSpPr txBox="1"/>
          <p:nvPr/>
        </p:nvSpPr>
        <p:spPr bwMode="auto">
          <a:xfrm>
            <a:off x="91440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0" i="0">
                <a:solidFill>
                  <a:srgbClr val="8B5CF6"/>
                </a:solidFill>
              </a:rPr>
              <a:t>com Portugol Studio</a:t>
            </a:r>
            <a:endParaRPr/>
          </a:p>
        </p:txBody>
      </p:sp>
      <p:sp>
        <p:nvSpPr>
          <p:cNvPr id="1938789561" name="TextBox 4"/>
          <p:cNvSpPr txBox="1"/>
          <p:nvPr/>
        </p:nvSpPr>
        <p:spPr bwMode="auto"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000" b="0" i="1">
                <a:solidFill>
                  <a:srgbClr val="FFFFFF"/>
                </a:solidFill>
              </a:rPr>
              <a:t>Do zero ao seu primeiro programa</a:t>
            </a:r>
            <a:endParaRPr/>
          </a:p>
        </p:txBody>
      </p:sp>
      <p:sp>
        <p:nvSpPr>
          <p:cNvPr id="853077335" name="TextBox 5"/>
          <p:cNvSpPr txBox="1"/>
          <p:nvPr/>
        </p:nvSpPr>
        <p:spPr bwMode="auto"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0" i="0">
                <a:solidFill>
                  <a:srgbClr val="8B5CF6"/>
                </a:solidFill>
              </a:rPr>
              <a:t>3 horas · Nível iniciante</a:t>
            </a:r>
            <a:endParaRPr/>
          </a:p>
        </p:txBody>
      </p:sp>
      <p:sp>
        <p:nvSpPr>
          <p:cNvPr id="270370681" name="TextBox 6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515912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3967035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O que é programação?</a:t>
            </a:r>
            <a:endParaRPr/>
          </a:p>
        </p:txBody>
      </p:sp>
      <p:sp>
        <p:nvSpPr>
          <p:cNvPr id="2004305414" name="TextBox 3"/>
          <p:cNvSpPr txBox="1"/>
          <p:nvPr/>
        </p:nvSpPr>
        <p:spPr bwMode="auto"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Programar = dar instruções para o computador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🍰  Receita de bolo: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1. Misture os ingredientes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2. Se a massa estiver muito grossa, adicione leite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3. Repita: bata por 5 minutos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4. Asse por 40 minutos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💻  Código é exatamente isso — uma receita que o computador segue!</a:t>
            </a:r>
            <a:endParaRPr/>
          </a:p>
        </p:txBody>
      </p:sp>
      <p:sp>
        <p:nvSpPr>
          <p:cNvPr id="476065504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83516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264874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Portugol Studio</a:t>
            </a:r>
            <a:endParaRPr/>
          </a:p>
        </p:txBody>
      </p:sp>
      <p:sp>
        <p:nvSpPr>
          <p:cNvPr id="335549506" name="TextBox 3"/>
          <p:cNvSpPr txBox="1"/>
          <p:nvPr/>
        </p:nvSpPr>
        <p:spPr bwMode="auto">
          <a:xfrm>
            <a:off x="731520" y="1371600"/>
            <a:ext cx="10531799" cy="410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O que é?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Ferramenta para aprender programação em português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Sintaxe simples, próxima do idioma natural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Por que usar?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Sem barreira de idioma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Feedback visual imediato (destaque de erros, console)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Gratuito e multiplataforma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Download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github.com/UNIVALI-LITE/Portugol-Studio/releases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Baixe o arquivo de acordo com seu sistema operacional</a:t>
            </a:r>
            <a:endParaRPr/>
          </a:p>
        </p:txBody>
      </p:sp>
      <p:sp>
        <p:nvSpPr>
          <p:cNvPr id="218853781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447771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3764567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Primeiro Programa — Olá, Mundo!</a:t>
            </a:r>
            <a:endParaRPr/>
          </a:p>
        </p:txBody>
      </p:sp>
      <p:sp>
        <p:nvSpPr>
          <p:cNvPr id="426089389" name="TextBox 3"/>
          <p:cNvSpPr txBox="1"/>
          <p:nvPr/>
        </p:nvSpPr>
        <p:spPr bwMode="auto">
          <a:xfrm>
            <a:off x="731520" y="1280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Todo programador começa aqui.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Objetivo: exibir uma mensagem na tela.</a:t>
            </a:r>
            <a:endParaRPr/>
          </a:p>
        </p:txBody>
      </p:sp>
      <p:sp>
        <p:nvSpPr>
          <p:cNvPr id="1418670262" name="TextBox 4"/>
          <p:cNvSpPr txBox="1"/>
          <p:nvPr/>
        </p:nvSpPr>
        <p:spPr bwMode="auto">
          <a:xfrm>
            <a:off x="731520" y="2194560"/>
            <a:ext cx="6400800" cy="310896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        escreva("Olá, Mundo!\n")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8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898357380" name="TextBox 5"/>
          <p:cNvSpPr txBox="1"/>
          <p:nvPr/>
        </p:nvSpPr>
        <p:spPr bwMode="auto">
          <a:xfrm>
            <a:off x="7406640" y="23774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600" b="1">
                <a:solidFill>
                  <a:srgbClr val="F5C518"/>
                </a:solidFill>
              </a:rPr>
              <a:t>▶  escreva()   →  mostra texto na tela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600" b="1">
                <a:solidFill>
                  <a:srgbClr val="F5C518"/>
                </a:solidFill>
              </a:rPr>
              <a:t>▶  \n          →  quebra de linha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600" b="1">
                <a:solidFill>
                  <a:srgbClr val="F5C518"/>
                </a:solidFill>
              </a:rPr>
              <a:t>▶  funcao inicio()  →  ponto de entrada do programa</a:t>
            </a:r>
            <a:endParaRPr/>
          </a:p>
        </p:txBody>
      </p:sp>
      <p:sp>
        <p:nvSpPr>
          <p:cNvPr id="1827217129" name="TextBox 6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645060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247255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Variáveis</a:t>
            </a:r>
            <a:endParaRPr/>
          </a:p>
        </p:txBody>
      </p:sp>
      <p:sp>
        <p:nvSpPr>
          <p:cNvPr id="1476726050" name="TextBox 3"/>
          <p:cNvSpPr txBox="1"/>
          <p:nvPr/>
        </p:nvSpPr>
        <p:spPr bwMode="auto">
          <a:xfrm>
            <a:off x="731520" y="1280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O que é uma variável?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Uma caixinha com nome que guarda um valor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Tipos de variáveis no Portugol:</a:t>
            </a:r>
            <a:endParaRPr/>
          </a:p>
        </p:txBody>
      </p:sp>
      <p:sp>
        <p:nvSpPr>
          <p:cNvPr id="1116726163" name="TextBox 4"/>
          <p:cNvSpPr txBox="1"/>
          <p:nvPr/>
        </p:nvSpPr>
        <p:spPr bwMode="auto">
          <a:xfrm>
            <a:off x="731520" y="3566160"/>
            <a:ext cx="10515600" cy="237744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Tipo       Exemplo           Para que serve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──────────────────────────────────────────────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inteiro    idade = 20        Números inteiros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real       altura = 1.75     Números decimais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cadeia     nome = "Ana"      Textos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logico     ativo = verdadeiro  Verdadeiro/Falso</a:t>
            </a:r>
            <a:endParaRPr/>
          </a:p>
        </p:txBody>
      </p:sp>
      <p:sp>
        <p:nvSpPr>
          <p:cNvPr id="1390684056" name="TextBox 5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953713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1112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Variáveis — na prática</a:t>
            </a:r>
            <a:endParaRPr/>
          </a:p>
        </p:txBody>
      </p:sp>
      <p:sp>
        <p:nvSpPr>
          <p:cNvPr id="863654192" name="TextBox 3"/>
          <p:cNvSpPr txBox="1"/>
          <p:nvPr/>
        </p:nvSpPr>
        <p:spPr bwMode="auto">
          <a:xfrm>
            <a:off x="731520" y="1280160"/>
            <a:ext cx="6858000" cy="5212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inteiro idade = 20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real    altura = 1.75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cadeia  nome = "Ana"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logico  estudante = verdadeiro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escreva("Nome: ", nome, "\n")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escreva("Idade: ", idade, " anos\n")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escreva("Altura: ", altura, " m\n")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escreva("Estudante: ", estudante, "\n")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// Lendo do teclado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escreva("Digite seu nome: 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leia(nome)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escreva("Olá, ", nome, "!\n")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09829658" name="TextBox 4"/>
          <p:cNvSpPr txBox="1"/>
          <p:nvPr/>
        </p:nvSpPr>
        <p:spPr bwMode="auto">
          <a:xfrm>
            <a:off x="7955279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Declarar = criar a caixinha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Atribuir = colocar valor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leia()   = pegar valor do teclado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💡  Nomes de variáveis: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• sem espaço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• sem acentos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• descritivos!</a:t>
            </a:r>
            <a:endParaRPr/>
          </a:p>
        </p:txBody>
      </p:sp>
      <p:sp>
        <p:nvSpPr>
          <p:cNvPr id="1865247541" name="TextBox 5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71002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419891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Condições — SE / SENÃO</a:t>
            </a:r>
            <a:endParaRPr/>
          </a:p>
        </p:txBody>
      </p:sp>
      <p:sp>
        <p:nvSpPr>
          <p:cNvPr id="1571649184" name="TextBox 3"/>
          <p:cNvSpPr txBox="1"/>
          <p:nvPr/>
        </p:nvSpPr>
        <p:spPr bwMode="auto">
          <a:xfrm>
            <a:off x="73152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O computador pode tomar decisões!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🚦  Analogia do semáforo: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SE  a luz está verde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    ➜  avance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SENÃO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    ➜  pare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Estrutura no Portugol:</a:t>
            </a:r>
            <a:endParaRPr/>
          </a:p>
        </p:txBody>
      </p:sp>
      <p:sp>
        <p:nvSpPr>
          <p:cNvPr id="1081814570" name="TextBox 4"/>
          <p:cNvSpPr txBox="1"/>
          <p:nvPr/>
        </p:nvSpPr>
        <p:spPr bwMode="auto">
          <a:xfrm>
            <a:off x="6583680" y="1463040"/>
            <a:ext cx="5212080" cy="2926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se (condição)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    // executa se VERDADEIRO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senao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    // executa se FALSO</a:t>
            </a:r>
            <a:endParaRPr/>
          </a:p>
          <a:p>
            <a:pPr>
              <a:defRPr/>
            </a:pPr>
            <a:r>
              <a:rPr sz="17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612714219" name="TextBox 5"/>
          <p:cNvSpPr txBox="1"/>
          <p:nvPr/>
        </p:nvSpPr>
        <p:spPr bwMode="auto">
          <a:xfrm>
            <a:off x="6583680" y="45720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Operadores de comparação: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==  igual 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!=  diferente de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&gt;   maior que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&lt;   menor que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&gt;=  maior ou igual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500" b="0">
                <a:solidFill>
                  <a:srgbClr val="FFFFFF"/>
                </a:solidFill>
              </a:rPr>
              <a:t>  &lt;=  menor ou igual</a:t>
            </a:r>
            <a:endParaRPr/>
          </a:p>
        </p:txBody>
      </p:sp>
      <p:sp>
        <p:nvSpPr>
          <p:cNvPr id="391755913" name="TextBox 6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210930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5030483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Condições — na prática</a:t>
            </a:r>
            <a:endParaRPr/>
          </a:p>
        </p:txBody>
      </p:sp>
      <p:sp>
        <p:nvSpPr>
          <p:cNvPr id="1227674584" name="TextBox 3"/>
          <p:cNvSpPr txBox="1"/>
          <p:nvPr/>
        </p:nvSpPr>
        <p:spPr bwMode="auto">
          <a:xfrm>
            <a:off x="731520" y="1280160"/>
            <a:ext cx="6858000" cy="5212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inteiro nota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escreva("Digite sua nota (0-10): 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leia(nota)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se (nota &gt;= 6)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    escreva("✓ Aprovado!\n")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senao se (nota &gt;= 4)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    escreva("⚠ Recuperação\n")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senao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    escreva("✗ Reprovado\n")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5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114550542" name="TextBox 4"/>
          <p:cNvSpPr txBox="1"/>
          <p:nvPr/>
        </p:nvSpPr>
        <p:spPr bwMode="auto">
          <a:xfrm>
            <a:off x="7955279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senao se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permite múltiplas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condições encadeadas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💡  Fluxo de execução: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1. Testa nota &gt;= 6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2. Se falso, testa &gt;= 4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3. Se ainda falso,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   executa o último senao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Apenas UM bloco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é executado!</a:t>
            </a:r>
            <a:endParaRPr/>
          </a:p>
        </p:txBody>
      </p:sp>
      <p:sp>
        <p:nvSpPr>
          <p:cNvPr id="2025772021" name="TextBox 5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384932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332871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Repetição — Loops</a:t>
            </a:r>
            <a:endParaRPr/>
          </a:p>
        </p:txBody>
      </p:sp>
      <p:sp>
        <p:nvSpPr>
          <p:cNvPr id="547730076" name="TextBox 3"/>
          <p:cNvSpPr txBox="1"/>
          <p:nvPr/>
        </p:nvSpPr>
        <p:spPr bwMode="auto">
          <a:xfrm>
            <a:off x="731520" y="12801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900" b="1">
                <a:solidFill>
                  <a:srgbClr val="F5C518"/>
                </a:solidFill>
              </a:rPr>
              <a:t>▶  Repetição = executar o mesmo bloco várias vezes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🏋️  Analogia da academia: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ENQUANTO  você tiver energia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    faça 1 repetição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📋  Ou com número fixo: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PARA  cada série de 1 até 3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900" b="0">
                <a:solidFill>
                  <a:srgbClr val="FFFFFF"/>
                </a:solidFill>
              </a:rPr>
              <a:t>          faça 10 repetições</a:t>
            </a:r>
            <a:endParaRPr/>
          </a:p>
        </p:txBody>
      </p:sp>
      <p:sp>
        <p:nvSpPr>
          <p:cNvPr id="1047990559" name="TextBox 4"/>
          <p:cNvSpPr txBox="1"/>
          <p:nvPr/>
        </p:nvSpPr>
        <p:spPr bwMode="auto">
          <a:xfrm>
            <a:off x="6400800" y="1463040"/>
            <a:ext cx="5394960" cy="365760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// Loop com condição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enquanto (condição)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    // repete enquanto for verdadeiro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// Loop com contador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para (inteiro i = 1; i &lt;= 10; i++)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    // repete 10 vezes</a:t>
            </a:r>
            <a:endParaRPr/>
          </a:p>
          <a:p>
            <a:pPr>
              <a:defRPr/>
            </a:pPr>
            <a:r>
              <a:rPr sz="16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318066997" name="TextBox 5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21712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994262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Loops — na prática</a:t>
            </a:r>
            <a:endParaRPr/>
          </a:p>
        </p:txBody>
      </p:sp>
      <p:sp>
        <p:nvSpPr>
          <p:cNvPr id="46163443" name="TextBox 3"/>
          <p:cNvSpPr txBox="1"/>
          <p:nvPr/>
        </p:nvSpPr>
        <p:spPr bwMode="auto">
          <a:xfrm>
            <a:off x="731520" y="1280160"/>
            <a:ext cx="6858000" cy="5212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// Contagem regressiva com enquanto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inteiro contador = 10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enquanto (contador &gt; 0)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    escreva(contador, "...\n")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    contador = contador - 1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escreva("Lançar!\n")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// Tabuada do 5 com para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para (inteiro i = 1; i &lt;= 10; i++)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    escreva("5 x ", i, " = ", 5*i, "\n")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4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106061425" name="TextBox 4"/>
          <p:cNvSpPr txBox="1"/>
          <p:nvPr/>
        </p:nvSpPr>
        <p:spPr bwMode="auto">
          <a:xfrm>
            <a:off x="7955279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enquanto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ideal quando não sei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quantas vezes repetir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700" b="1">
                <a:solidFill>
                  <a:srgbClr val="F5C518"/>
                </a:solidFill>
              </a:rPr>
              <a:t>▶  para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ideal quando tenho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número fixo de vezes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⚠  Cuidado com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loop infinito!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A condição PRECISA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700" b="0">
                <a:solidFill>
                  <a:srgbClr val="FFFFFF"/>
                </a:solidFill>
              </a:rPr>
              <a:t>   se tornar falsa.</a:t>
            </a:r>
            <a:endParaRPr/>
          </a:p>
        </p:txBody>
      </p:sp>
      <p:sp>
        <p:nvSpPr>
          <p:cNvPr id="831671640" name="TextBox 5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92744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0475493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Lógica Booleana</a:t>
            </a:r>
            <a:endParaRPr/>
          </a:p>
        </p:txBody>
      </p:sp>
      <p:sp>
        <p:nvSpPr>
          <p:cNvPr id="980961229" name="TextBox 3"/>
          <p:cNvSpPr txBox="1"/>
          <p:nvPr/>
        </p:nvSpPr>
        <p:spPr bwMode="auto"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800" b="1">
                <a:solidFill>
                  <a:srgbClr val="F5C518"/>
                </a:solidFill>
              </a:rPr>
              <a:t>▶  Só existem dois valores: verdadeiro  e  falso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💡  Usamos lógica booleana o tempo todo: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"Está chovendo  E  eu tenho guarda-chuva?"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 ➜ verdadeiro E verdadeiro  =  VERDADEIRO  → sair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"Tenho dinheiro  OU  tenho crédito?"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 ➜ falso OU verdadeiro      =  VERDADEIRO  → comprar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"NÃO estou com fome"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 ➜ nao verdadeiro           =  FALSO</a:t>
            </a:r>
            <a:endParaRPr/>
          </a:p>
        </p:txBody>
      </p:sp>
      <p:sp>
        <p:nvSpPr>
          <p:cNvPr id="664069003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057833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984702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Lógica Booleana — no Portugol</a:t>
            </a:r>
            <a:endParaRPr/>
          </a:p>
        </p:txBody>
      </p:sp>
      <p:sp>
        <p:nvSpPr>
          <p:cNvPr id="631564653" name="TextBox 3"/>
          <p:cNvSpPr txBox="1"/>
          <p:nvPr/>
        </p:nvSpPr>
        <p:spPr bwMode="auto">
          <a:xfrm>
            <a:off x="731520" y="1280160"/>
            <a:ext cx="7498079" cy="5212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inteiro idade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logico temCarteira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escreva("Sua idade: ")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leia(idade)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escreva("Tem carteira de motorista? (verdadeiro/falso): ")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leia(temCarteira)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// E (AND) — ambas precisam ser verdadeiras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se (idade &gt;= 18 e temCarteira)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    escreva("Pode dirigir!\n")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// OU (OR) — pelo menos uma verdadeira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se (idade &lt; 18 ou nao temCarteira)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    escreva("Não pode dirigir ainda.\n")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777542151" name="TextBox 4"/>
          <p:cNvSpPr txBox="1"/>
          <p:nvPr/>
        </p:nvSpPr>
        <p:spPr bwMode="auto">
          <a:xfrm>
            <a:off x="8412480" y="1828800"/>
            <a:ext cx="3474720" cy="237744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A      B      A e B   A ou B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────────────────────────────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V      V        V       V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V      F        F       V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F      V        F       V</a:t>
            </a:r>
            <a:endParaRPr/>
          </a:p>
          <a:p>
            <a:pPr>
              <a:defRPr/>
            </a:pPr>
            <a:r>
              <a:rPr sz="1300">
                <a:solidFill>
                  <a:srgbClr val="A8FF78"/>
                </a:solidFill>
                <a:latin typeface="Courier New"/>
              </a:rPr>
              <a:t> F      F        F       F</a:t>
            </a:r>
            <a:endParaRPr/>
          </a:p>
        </p:txBody>
      </p:sp>
      <p:sp>
        <p:nvSpPr>
          <p:cNvPr id="629677946" name="TextBox 5"/>
          <p:cNvSpPr txBox="1"/>
          <p:nvPr/>
        </p:nvSpPr>
        <p:spPr bwMode="auto">
          <a:xfrm>
            <a:off x="841248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600" b="0">
                <a:solidFill>
                  <a:srgbClr val="FFFFFF"/>
                </a:solidFill>
              </a:rPr>
              <a:t>e   → AND (as duas)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600" b="0">
                <a:solidFill>
                  <a:srgbClr val="FFFFFF"/>
                </a:solidFill>
              </a:rPr>
              <a:t>ou  → OR  (pelo menos 1)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600" b="0">
                <a:solidFill>
                  <a:srgbClr val="FFFFFF"/>
                </a:solidFill>
              </a:rPr>
              <a:t>nao → NOT (inverte)</a:t>
            </a:r>
            <a:endParaRPr/>
          </a:p>
        </p:txBody>
      </p:sp>
      <p:sp>
        <p:nvSpPr>
          <p:cNvPr id="1461220797" name="TextBox 6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429237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997549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Combinando tudo — Exemplo Final</a:t>
            </a:r>
            <a:endParaRPr/>
          </a:p>
        </p:txBody>
      </p:sp>
      <p:sp>
        <p:nvSpPr>
          <p:cNvPr id="591154160" name="TextBox 3"/>
          <p:cNvSpPr txBox="1"/>
          <p:nvPr/>
        </p:nvSpPr>
        <p:spPr bwMode="auto">
          <a:xfrm>
            <a:off x="457200" y="1280160"/>
            <a:ext cx="11247120" cy="521208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programa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{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funcao inicio()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{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cadeia  nome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inteiro tentativas = 0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inteiro acertos    = 0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cadeia  resposta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escreva("Bem-vindo ao Quiz!\n")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escreva("Digite seu nome: 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leia(nome)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enquanto (tentativas &lt; 3)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{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escreva("\nPergunta ", tentativas+1,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        ": Capital do Brasil? 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leia(resposta)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tentativas = tentativas + 1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se (resposta == "Brasilia" ou resposta == "brasilia")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{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    escreva("Correto!\n")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    acertos = acertos + 1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}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senao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{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    escreva("Errado! A resposta é Brasilia.\n")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}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}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escreva("\n", nome, " acertou ", acertos,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            " de 3 perguntas!\n")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    }</a:t>
            </a:r>
            <a:endParaRPr/>
          </a:p>
          <a:p>
            <a:pPr>
              <a:defRPr/>
            </a:pPr>
            <a:r>
              <a:rPr sz="1200">
                <a:solidFill>
                  <a:srgbClr val="A8FF78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89397949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498127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175795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5C518"/>
                </a:solidFill>
              </a:rPr>
              <a:t>Projeto — Jogo de Adivinhação 🎮</a:t>
            </a:r>
            <a:endParaRPr/>
          </a:p>
        </p:txBody>
      </p:sp>
      <p:sp>
        <p:nvSpPr>
          <p:cNvPr id="1113139615" name="TextBox 3"/>
          <p:cNvSpPr txBox="1"/>
          <p:nvPr/>
        </p:nvSpPr>
        <p:spPr bwMode="auto"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1800" b="1">
                <a:solidFill>
                  <a:srgbClr val="F5C518"/>
                </a:solidFill>
              </a:rPr>
              <a:t>▶  Objetivo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Criar um jogo onde o computador 'pensa' em um número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de 1 a 100 e o jogador tenta adivinhar.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1">
                <a:solidFill>
                  <a:srgbClr val="F5C518"/>
                </a:solidFill>
              </a:rPr>
              <a:t>▶  Regras do jogo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• A cada chute, o programa diz: 'maior' ou 'menor'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• Conta quantas tentativas o jogador usou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• Parabeniza quando acertar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• Permite jogar de novo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1">
                <a:solidFill>
                  <a:srgbClr val="F5C518"/>
                </a:solidFill>
              </a:rPr>
              <a:t>▶  Conceitos que vão usar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variáveis  •  condições SE/SENÃO  •  loop enquanto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1800" b="0">
                <a:solidFill>
                  <a:srgbClr val="FFFFFF"/>
                </a:solidFill>
              </a:rPr>
              <a:t>      lógica booleana  •  entrada do teclado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1800" b="1">
                <a:solidFill>
                  <a:srgbClr val="F5C518"/>
                </a:solidFill>
              </a:rPr>
              <a:t>▶  Próxima aula: apresentação dos jogos + dicas de melhoria</a:t>
            </a:r>
            <a:endParaRPr/>
          </a:p>
        </p:txBody>
      </p:sp>
      <p:sp>
        <p:nvSpPr>
          <p:cNvPr id="1260284727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0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49490" name="Rectangle 1"/>
          <p:cNvSpPr/>
          <p:nvPr/>
        </p:nvSpPr>
        <p:spPr bwMode="auto">
          <a:xfrm>
            <a:off x="0" y="630936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2761565" name="TextBox 2"/>
          <p:cNvSpPr txBox="1"/>
          <p:nvPr/>
        </p:nvSpPr>
        <p:spPr bwMode="auto"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5C518"/>
                </a:solidFill>
              </a:rPr>
              <a:t>Resumo de hoje</a:t>
            </a:r>
            <a:endParaRPr/>
          </a:p>
        </p:txBody>
      </p:sp>
      <p:sp>
        <p:nvSpPr>
          <p:cNvPr id="1658796453" name="TextBox 3"/>
          <p:cNvSpPr txBox="1"/>
          <p:nvPr/>
        </p:nvSpPr>
        <p:spPr bwMode="auto"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✅  Portugol Studio — ferramenta instalada e funcionando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✅  Variáveis       — guardar e manipular dados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✅  SE / SENÃO      — tomar decisões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✅  Loops           — repetir ações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✅  Lógica Booleana — verdadeiro, falso, E, OU, NÃO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🚀  Para a próxima aula: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      Desenvolver o Jogo de Adivinhação</a:t>
            </a: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      Pode usar tudo que aprendemos hoje!</a:t>
            </a:r>
            <a:endParaRPr/>
          </a:p>
          <a:p>
            <a:pPr>
              <a:spcBef>
                <a:spcPts val="400"/>
              </a:spcBef>
              <a:defRPr/>
            </a:pPr>
            <a:endParaRPr/>
          </a:p>
          <a:p>
            <a:pPr>
              <a:spcBef>
                <a:spcPts val="400"/>
              </a:spcBef>
              <a:defRPr/>
            </a:pPr>
            <a:r>
              <a:rPr sz="2000" b="0">
                <a:solidFill>
                  <a:srgbClr val="FFFFFF"/>
                </a:solidFill>
              </a:rPr>
              <a:t>      Dúvidas? Experimenta, erra, conserta — é assim que se aprende!</a:t>
            </a:r>
            <a:endParaRPr/>
          </a:p>
        </p:txBody>
      </p:sp>
      <p:sp>
        <p:nvSpPr>
          <p:cNvPr id="1670344497" name="TextBox 4"/>
          <p:cNvSpPr txBox="1"/>
          <p:nvPr/>
        </p:nvSpPr>
        <p:spPr bwMode="auto"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8B5CF6"/>
                </a:solidFill>
              </a:rPr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2026-04-24T01:04:48Z</dcterms:modified>
  <cp:category/>
</cp:coreProperties>
</file>